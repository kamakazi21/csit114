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7" r:id="rId11"/>
    <p:sldId id="278" r:id="rId12"/>
    <p:sldId id="279" r:id="rId13"/>
    <p:sldId id="281" r:id="rId14"/>
    <p:sldId id="280" r:id="rId15"/>
    <p:sldId id="283" r:id="rId16"/>
    <p:sldId id="282" r:id="rId17"/>
    <p:sldId id="285" r:id="rId18"/>
    <p:sldId id="284" r:id="rId19"/>
    <p:sldId id="286" r:id="rId20"/>
    <p:sldId id="288" r:id="rId21"/>
    <p:sldId id="289" r:id="rId22"/>
    <p:sldId id="290" r:id="rId23"/>
    <p:sldId id="291" r:id="rId24"/>
    <p:sldId id="292" r:id="rId25"/>
    <p:sldId id="293" r:id="rId26"/>
    <p:sldId id="296" r:id="rId27"/>
    <p:sldId id="294" r:id="rId28"/>
    <p:sldId id="295" r:id="rId29"/>
    <p:sldId id="297" r:id="rId30"/>
    <p:sldId id="298" r:id="rId31"/>
    <p:sldId id="299" r:id="rId32"/>
    <p:sldId id="301" r:id="rId33"/>
    <p:sldId id="300" r:id="rId34"/>
    <p:sldId id="302" r:id="rId35"/>
    <p:sldId id="304" r:id="rId36"/>
    <p:sldId id="305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4"/>
    <p:restoredTop sz="94689"/>
  </p:normalViewPr>
  <p:slideViewPr>
    <p:cSldViewPr snapToGrid="0" snapToObjects="1">
      <p:cViewPr varScale="1">
        <p:scale>
          <a:sx n="114" d="100"/>
          <a:sy n="114" d="100"/>
        </p:scale>
        <p:origin x="14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D381-E71A-B14E-9284-6A8960DB49BF}" type="datetimeFigureOut">
              <a:rPr lang="en-US" smtClean="0"/>
              <a:t>3/7/19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38C8D-087B-BE45-861B-E4BD20D3A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521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D381-E71A-B14E-9284-6A8960DB49BF}" type="datetimeFigureOut">
              <a:rPr lang="en-US" smtClean="0"/>
              <a:t>3/7/19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38C8D-087B-BE45-861B-E4BD20D3A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491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D381-E71A-B14E-9284-6A8960DB49BF}" type="datetimeFigureOut">
              <a:rPr lang="en-US" smtClean="0"/>
              <a:t>3/7/19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38C8D-087B-BE45-861B-E4BD20D3A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672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D381-E71A-B14E-9284-6A8960DB49BF}" type="datetimeFigureOut">
              <a:rPr lang="en-US" smtClean="0"/>
              <a:t>3/7/19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38C8D-087B-BE45-861B-E4BD20D3A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72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D381-E71A-B14E-9284-6A8960DB49BF}" type="datetimeFigureOut">
              <a:rPr lang="en-US" smtClean="0"/>
              <a:t>3/7/19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38C8D-087B-BE45-861B-E4BD20D3A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277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D381-E71A-B14E-9284-6A8960DB49BF}" type="datetimeFigureOut">
              <a:rPr lang="en-US" smtClean="0"/>
              <a:t>3/7/19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38C8D-087B-BE45-861B-E4BD20D3A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756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D381-E71A-B14E-9284-6A8960DB49BF}" type="datetimeFigureOut">
              <a:rPr lang="en-US" smtClean="0"/>
              <a:t>3/7/19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38C8D-087B-BE45-861B-E4BD20D3A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445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D381-E71A-B14E-9284-6A8960DB49BF}" type="datetimeFigureOut">
              <a:rPr lang="en-US" smtClean="0"/>
              <a:t>3/7/19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38C8D-087B-BE45-861B-E4BD20D3A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00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D381-E71A-B14E-9284-6A8960DB49BF}" type="datetimeFigureOut">
              <a:rPr lang="en-US" smtClean="0"/>
              <a:t>3/7/19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38C8D-087B-BE45-861B-E4BD20D3A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55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D381-E71A-B14E-9284-6A8960DB49BF}" type="datetimeFigureOut">
              <a:rPr lang="en-US" smtClean="0"/>
              <a:t>3/7/19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38C8D-087B-BE45-861B-E4BD20D3A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22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D381-E71A-B14E-9284-6A8960DB49BF}" type="datetimeFigureOut">
              <a:rPr lang="en-US" smtClean="0"/>
              <a:t>3/7/19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38C8D-087B-BE45-861B-E4BD20D3A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708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5D381-E71A-B14E-9284-6A8960DB49BF}" type="datetimeFigureOut">
              <a:rPr lang="en-US" smtClean="0"/>
              <a:t>3/7/19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338C8D-087B-BE45-861B-E4BD20D3A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028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7F6A6-213D-844E-B47C-C41A558742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RMO</a:t>
            </a:r>
            <a:r>
              <a:rPr lang="zh-CN" altLang="en-US"/>
              <a:t> </a:t>
            </a:r>
            <a:r>
              <a:rPr lang="en-US" altLang="zh-CN" dirty="0"/>
              <a:t>Case</a:t>
            </a:r>
            <a:r>
              <a:rPr lang="zh-CN" altLang="en-US" dirty="0"/>
              <a:t> </a:t>
            </a:r>
            <a:r>
              <a:rPr lang="en-US" altLang="zh-CN" dirty="0"/>
              <a:t>Study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23164B-9BE3-2242-8716-5CB2EDEAB3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049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Iterative and Agile Systems Development Lifecycle (SDLC)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65FB76-34EE-4618-A634-3399064F957C}" type="slidenum">
              <a:rPr lang="en-US" altLang="en-US"/>
              <a:pPr>
                <a:defRPr/>
              </a:pPr>
              <a:t>2</a:t>
            </a:fld>
            <a:endParaRPr lang="en-US" altLang="en-US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0436" y="2590800"/>
            <a:ext cx="6063364" cy="322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914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Ridgeline Mountain Outfitters (RMO) </a:t>
            </a:r>
          </a:p>
        </p:txBody>
      </p:sp>
      <p:sp>
        <p:nvSpPr>
          <p:cNvPr id="136195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buFont typeface="Arial"/>
              <a:buChar char="•"/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Large Retail Company </a:t>
            </a:r>
          </a:p>
          <a:p>
            <a:pPr lvl="1" eaLnBrk="1" fontAlgn="auto" hangingPunct="1">
              <a:buFont typeface="Arial"/>
              <a:buChar char="•"/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Outdoor and sporting clothing and accessories</a:t>
            </a:r>
          </a:p>
          <a:p>
            <a:pPr lvl="1" eaLnBrk="1" fontAlgn="auto" hangingPunct="1">
              <a:buFont typeface="Arial"/>
              <a:buChar char="•"/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Skiing, mountain biking, water sports</a:t>
            </a:r>
          </a:p>
          <a:p>
            <a:pPr lvl="1" eaLnBrk="1" fontAlgn="auto" hangingPunct="1">
              <a:buFont typeface="Arial"/>
              <a:buChar char="•"/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Hiking, camping, mountain climbing</a:t>
            </a:r>
          </a:p>
          <a:p>
            <a:pPr eaLnBrk="1" fontAlgn="auto" hangingPunct="1">
              <a:buFont typeface="Arial"/>
              <a:buChar char="•"/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Rocky Mountain and Western States</a:t>
            </a:r>
          </a:p>
          <a:p>
            <a:pPr lvl="1" eaLnBrk="1" fontAlgn="auto" hangingPunct="1">
              <a:buFont typeface="Arial"/>
              <a:buChar char="•"/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Started mail order and phone order</a:t>
            </a:r>
          </a:p>
          <a:p>
            <a:pPr lvl="1" eaLnBrk="1" fontAlgn="auto" hangingPunct="1">
              <a:buFont typeface="Arial"/>
              <a:buChar char="•"/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Added retail stores</a:t>
            </a:r>
          </a:p>
          <a:p>
            <a:pPr lvl="1" eaLnBrk="1" fontAlgn="auto" hangingPunct="1">
              <a:buFont typeface="Arial"/>
              <a:buChar char="•"/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Added extensive E-business component</a:t>
            </a:r>
          </a:p>
          <a:p>
            <a:pPr eaLnBrk="1" fontAlgn="auto" hangingPunct="1">
              <a:buFont typeface="Arial"/>
              <a:buChar char="•"/>
              <a:defRPr/>
            </a:pPr>
            <a:endParaRPr lang="en-US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1AF4A0-3E78-4203-A356-9C62B655ECB1}" type="slidenum">
              <a:rPr lang="en-US" altLang="en-US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5012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45C35F-F24B-4892-9E5E-7F66F32F4230}" type="slidenum">
              <a:rPr lang="en-US" altLang="en-US"/>
              <a:pPr>
                <a:defRPr/>
              </a:pPr>
              <a:t>4</a:t>
            </a:fld>
            <a:endParaRPr lang="en-US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110" y="1211388"/>
            <a:ext cx="3459780" cy="44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557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Ridgeline Mountain Outfitters (RMO)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98806-4A4B-4640-9AE0-0CB49BF61CE0}" type="slidenum">
              <a:rPr lang="en-US" altLang="en-US" smtClean="0"/>
              <a:pPr/>
              <a:t>5</a:t>
            </a:fld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048" y="2497531"/>
            <a:ext cx="5547841" cy="347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448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n>
                  <a:noFill/>
                </a:ln>
              </a:rPr>
              <a:t>RMO Tradeshow System 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buFont typeface="Arial"/>
              <a:buChar char="•"/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Sample project for chapter</a:t>
            </a:r>
          </a:p>
          <a:p>
            <a:pPr eaLnBrk="1" fontAlgn="auto" hangingPunct="1">
              <a:buFont typeface="Arial"/>
              <a:buChar char="•"/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Small information system (app)</a:t>
            </a:r>
          </a:p>
          <a:p>
            <a:pPr eaLnBrk="1" fontAlgn="auto" hangingPunct="1">
              <a:buFont typeface="Arial"/>
              <a:buChar char="•"/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Being added to larger supply chain management system</a:t>
            </a:r>
          </a:p>
          <a:p>
            <a:pPr eaLnBrk="1" fontAlgn="auto" hangingPunct="1">
              <a:buFont typeface="Arial"/>
              <a:buChar char="•"/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Demonstrates one iteration of the small project – assumes more iterations in total project</a:t>
            </a:r>
          </a:p>
          <a:p>
            <a:pPr eaLnBrk="1" fontAlgn="auto" hangingPunct="1">
              <a:buFont typeface="Arial"/>
              <a:buChar char="•"/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Goes through all six core processes of SDLC </a:t>
            </a:r>
          </a:p>
          <a:p>
            <a:pPr eaLnBrk="1" fontAlgn="auto" hangingPunct="1">
              <a:buFont typeface="Arial"/>
              <a:buChar char="•"/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plan for this chapter is to complete iteration in six days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E45859-0502-4AF0-9AAA-1066D4C4A288}" type="slidenum">
              <a:rPr lang="en-US" altLang="en-US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987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n>
                  <a:noFill/>
                </a:ln>
              </a:rPr>
              <a:t>RMO Tradeshow System </a:t>
            </a:r>
          </a:p>
        </p:txBody>
      </p:sp>
      <p:sp>
        <p:nvSpPr>
          <p:cNvPr id="141315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lnSpc>
                <a:spcPct val="90000"/>
              </a:lnSpc>
              <a:buFont typeface="Arial"/>
              <a:buChar char="•"/>
              <a:defRPr/>
            </a:pPr>
            <a:r>
              <a:rPr lang="en-US" altLang="en-US" b="1">
                <a:solidFill>
                  <a:schemeClr val="tx1">
                    <a:lumMod val="85000"/>
                    <a:lumOff val="15000"/>
                  </a:schemeClr>
                </a:solidFill>
              </a:rPr>
              <a:t>Problem</a:t>
            </a:r>
            <a:r>
              <a:rPr lang="en-US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-- </a:t>
            </a:r>
            <a:r>
              <a:rPr lang="en-GB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purchasing agents attend apparel and fabric trade shows around the world to order new products from suppliers</a:t>
            </a:r>
          </a:p>
          <a:p>
            <a:pPr eaLnBrk="1" fontAlgn="auto" hangingPunct="1">
              <a:lnSpc>
                <a:spcPct val="90000"/>
              </a:lnSpc>
              <a:buFont typeface="Arial"/>
              <a:buChar char="•"/>
              <a:defRPr/>
            </a:pPr>
            <a:r>
              <a:rPr lang="en-GB" altLang="en-US" b="1">
                <a:solidFill>
                  <a:schemeClr val="tx1">
                    <a:lumMod val="85000"/>
                    <a:lumOff val="15000"/>
                  </a:schemeClr>
                </a:solidFill>
              </a:rPr>
              <a:t>Need</a:t>
            </a:r>
            <a:r>
              <a:rPr lang="en-GB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– information system (app) to collect and track information about suppliers and new products while at tradeshows</a:t>
            </a:r>
          </a:p>
          <a:p>
            <a:pPr eaLnBrk="1" fontAlgn="auto" hangingPunct="1">
              <a:lnSpc>
                <a:spcPct val="90000"/>
              </a:lnSpc>
              <a:buFont typeface="Arial"/>
              <a:buChar char="•"/>
              <a:defRPr/>
            </a:pPr>
            <a:r>
              <a:rPr lang="en-GB" altLang="en-US" b="1">
                <a:solidFill>
                  <a:schemeClr val="tx1">
                    <a:lumMod val="85000"/>
                    <a:lumOff val="15000"/>
                  </a:schemeClr>
                </a:solidFill>
              </a:rPr>
              <a:t>Tradeshow Project</a:t>
            </a:r>
            <a:r>
              <a:rPr lang="en-GB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– is proposed</a:t>
            </a:r>
          </a:p>
          <a:p>
            <a:pPr lvl="1" eaLnBrk="1" fontAlgn="auto" hangingPunct="1">
              <a:lnSpc>
                <a:spcPct val="90000"/>
              </a:lnSpc>
              <a:buFont typeface="Arial"/>
              <a:buChar char="•"/>
              <a:defRPr/>
            </a:pPr>
            <a:r>
              <a:rPr lang="en-US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Supplier information subsystem</a:t>
            </a:r>
          </a:p>
          <a:p>
            <a:pPr lvl="1" eaLnBrk="1" fontAlgn="auto" hangingPunct="1">
              <a:lnSpc>
                <a:spcPct val="90000"/>
              </a:lnSpc>
              <a:buFont typeface="Arial"/>
              <a:buChar char="•"/>
              <a:defRPr/>
            </a:pPr>
            <a:r>
              <a:rPr lang="en-US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Product information subsystem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3DF433-C022-40A7-85C4-F7D133C2BD0D}" type="slidenum">
              <a:rPr lang="en-US" altLang="en-US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032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n>
                  <a:noFill/>
                </a:ln>
              </a:rPr>
              <a:t>Initial Activities – pre-project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2490788"/>
            <a:ext cx="6908800" cy="3444875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buFont typeface="Arial"/>
              <a:buChar char="•"/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Identify the problem and document the objective of the system (core process 1)</a:t>
            </a:r>
          </a:p>
          <a:p>
            <a:pPr lvl="1" eaLnBrk="1" fontAlgn="auto" hangingPunct="1">
              <a:buFont typeface="Arial"/>
              <a:buChar char="•"/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Preliminary investigation</a:t>
            </a:r>
          </a:p>
          <a:p>
            <a:pPr lvl="1" eaLnBrk="1" fontAlgn="auto" hangingPunct="1">
              <a:buFont typeface="Arial"/>
              <a:buChar char="•"/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System Vision Document</a:t>
            </a:r>
          </a:p>
          <a:p>
            <a:pPr eaLnBrk="1" fontAlgn="auto" hangingPunct="1">
              <a:buFont typeface="Arial"/>
              <a:buChar char="•"/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Obtain approval to commence the project (core process 1)</a:t>
            </a:r>
          </a:p>
          <a:p>
            <a:pPr lvl="1" eaLnBrk="1" fontAlgn="auto" hangingPunct="1">
              <a:buFont typeface="Arial"/>
              <a:buChar char="•"/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Meet with key stakeholders, including executive management</a:t>
            </a:r>
          </a:p>
          <a:p>
            <a:pPr lvl="1" eaLnBrk="1" fontAlgn="auto" hangingPunct="1">
              <a:buFont typeface="Arial"/>
              <a:buChar char="•"/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Decision reached, approve plan and budget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D9D688-DC6D-4F68-A7E2-B944991557BD}" type="slidenum">
              <a:rPr lang="en-US" altLang="en-US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0210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176338" y="1371600"/>
            <a:ext cx="3632200" cy="1371600"/>
          </a:xfrm>
        </p:spPr>
        <p:txBody>
          <a:bodyPr/>
          <a:lstStyle/>
          <a:p>
            <a:pPr eaLnBrk="1" hangingPunct="1"/>
            <a:r>
              <a:rPr lang="en-US" altLang="en-US" sz="2800" b="1">
                <a:ln>
                  <a:noFill/>
                </a:ln>
              </a:rPr>
              <a:t>System Vision Document</a:t>
            </a:r>
            <a:br>
              <a:rPr lang="en-US" altLang="en-US" sz="2800" b="1">
                <a:ln>
                  <a:noFill/>
                </a:ln>
              </a:rPr>
            </a:br>
            <a:endParaRPr lang="en-US" altLang="en-US" b="1">
              <a:ln>
                <a:noFill/>
              </a:ln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176338" y="3255963"/>
            <a:ext cx="3632200" cy="1828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200" dirty="0">
                <a:ea typeface="+mj-ea"/>
                <a:cs typeface="+mj-cs"/>
              </a:rPr>
              <a:t>Problem description</a:t>
            </a:r>
            <a:br>
              <a:rPr lang="en-US" altLang="en-US" sz="2200" dirty="0">
                <a:ea typeface="+mj-ea"/>
                <a:cs typeface="+mj-cs"/>
              </a:rPr>
            </a:br>
            <a:br>
              <a:rPr lang="en-US" altLang="en-US" sz="2200" dirty="0">
                <a:ea typeface="+mj-ea"/>
                <a:cs typeface="+mj-cs"/>
              </a:rPr>
            </a:br>
            <a:r>
              <a:rPr lang="en-US" altLang="en-US" sz="2200" dirty="0">
                <a:ea typeface="+mj-ea"/>
                <a:cs typeface="+mj-cs"/>
              </a:rPr>
              <a:t>System capabilities</a:t>
            </a:r>
            <a:br>
              <a:rPr lang="en-US" altLang="en-US" sz="2200" dirty="0">
                <a:ea typeface="+mj-ea"/>
                <a:cs typeface="+mj-cs"/>
              </a:rPr>
            </a:br>
            <a:br>
              <a:rPr lang="en-US" altLang="en-US" sz="2200" dirty="0">
                <a:ea typeface="+mj-ea"/>
                <a:cs typeface="+mj-cs"/>
              </a:rPr>
            </a:br>
            <a:r>
              <a:rPr lang="en-US" altLang="en-US" sz="2200" dirty="0">
                <a:ea typeface="+mj-ea"/>
                <a:cs typeface="+mj-cs"/>
              </a:rPr>
              <a:t>Business benefits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91DFBF-38A8-4102-86CF-AA0AA3003179}" type="slidenum">
              <a:rPr lang="en-US" altLang="en-US"/>
              <a:pPr>
                <a:defRPr/>
              </a:pPr>
              <a:t>9</a:t>
            </a:fld>
            <a:endParaRPr lang="en-US" altLang="en-US"/>
          </a:p>
        </p:txBody>
      </p:sp>
      <p:pic>
        <p:nvPicPr>
          <p:cNvPr id="11" name="Picture Placeholder 10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4781" b="4781"/>
          <a:stretch>
            <a:fillRect/>
          </a:stretch>
        </p:blipFill>
        <p:spPr>
          <a:xfrm>
            <a:off x="4572000" y="914401"/>
            <a:ext cx="3540125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612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n>
                  <a:noFill/>
                </a:ln>
              </a:rPr>
              <a:t>Problem Description </a:t>
            </a:r>
          </a:p>
        </p:txBody>
      </p:sp>
      <p:pic>
        <p:nvPicPr>
          <p:cNvPr id="41987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2590800"/>
            <a:ext cx="7386638" cy="3184525"/>
          </a:xfrm>
          <a:noFill/>
        </p:spPr>
      </p:pic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653F0E-B191-4036-82DF-3141BC205873}" type="slidenum">
              <a:rPr lang="en-US" altLang="en-US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9803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n>
                  <a:noFill/>
                </a:ln>
              </a:rPr>
              <a:t>System Capabilities</a:t>
            </a:r>
          </a:p>
        </p:txBody>
      </p:sp>
      <p:pic>
        <p:nvPicPr>
          <p:cNvPr id="43011" name="Picture 8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6763" y="2590800"/>
            <a:ext cx="7620000" cy="3065463"/>
          </a:xfrm>
          <a:noFill/>
        </p:spPr>
      </p:pic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D998E2-FFCC-4087-B64A-04D7F4F96DA4}" type="slidenum">
              <a:rPr lang="en-US" altLang="en-US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5315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n>
                  <a:noFill/>
                </a:ln>
              </a:rPr>
              <a:t>Business Benefits</a:t>
            </a:r>
          </a:p>
        </p:txBody>
      </p:sp>
      <p:pic>
        <p:nvPicPr>
          <p:cNvPr id="44035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4375" y="2668588"/>
            <a:ext cx="7723188" cy="3276600"/>
          </a:xfrm>
          <a:noFill/>
        </p:spPr>
      </p:pic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CCC89-7FEF-44F9-AE1B-92273677C02F}" type="slidenum">
              <a:rPr lang="en-US" altLang="en-US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810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n>
                  <a:noFill/>
                </a:ln>
              </a:rPr>
              <a:t>Day 1 Activities 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490788"/>
            <a:ext cx="7137400" cy="3444875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lnSpc>
                <a:spcPct val="90000"/>
              </a:lnSpc>
              <a:buFont typeface="Arial"/>
              <a:buChar char="•"/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Core Process 2: Plan the Project</a:t>
            </a:r>
          </a:p>
          <a:p>
            <a:pPr lvl="1" eaLnBrk="1" fontAlgn="auto" hangingPunct="1">
              <a:lnSpc>
                <a:spcPct val="90000"/>
              </a:lnSpc>
              <a:buFont typeface="Arial"/>
              <a:buChar char="•"/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Determine the major components (functional areas) that are needed</a:t>
            </a:r>
          </a:p>
          <a:p>
            <a:pPr lvl="2" eaLnBrk="1" fontAlgn="auto" hangingPunct="1">
              <a:lnSpc>
                <a:spcPct val="90000"/>
              </a:lnSpc>
              <a:buFont typeface="Arial"/>
              <a:buChar char="•"/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Supplier information subsystem</a:t>
            </a:r>
          </a:p>
          <a:p>
            <a:pPr lvl="2" eaLnBrk="1" fontAlgn="auto" hangingPunct="1">
              <a:lnSpc>
                <a:spcPct val="90000"/>
              </a:lnSpc>
              <a:buFont typeface="Arial"/>
              <a:buChar char="•"/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Product information subsystem</a:t>
            </a:r>
          </a:p>
          <a:p>
            <a:pPr lvl="1" eaLnBrk="1" fontAlgn="auto" hangingPunct="1">
              <a:lnSpc>
                <a:spcPct val="90000"/>
              </a:lnSpc>
              <a:buFont typeface="Arial"/>
              <a:buChar char="•"/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Define the iterations and assign each function to an iteration</a:t>
            </a:r>
          </a:p>
          <a:p>
            <a:pPr lvl="2" eaLnBrk="1" fontAlgn="auto" hangingPunct="1">
              <a:lnSpc>
                <a:spcPct val="90000"/>
              </a:lnSpc>
              <a:buFont typeface="Arial"/>
              <a:buChar char="•"/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Decide to do Supplier subsystem first</a:t>
            </a:r>
          </a:p>
          <a:p>
            <a:pPr lvl="2" eaLnBrk="1" fontAlgn="auto" hangingPunct="1">
              <a:lnSpc>
                <a:spcPct val="90000"/>
              </a:lnSpc>
              <a:buFont typeface="Arial"/>
              <a:buChar char="•"/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Plan one iteration as it is small and straight forward</a:t>
            </a:r>
          </a:p>
          <a:p>
            <a:pPr lvl="1" eaLnBrk="1" fontAlgn="auto" hangingPunct="1">
              <a:lnSpc>
                <a:spcPct val="90000"/>
              </a:lnSpc>
              <a:buFont typeface="Arial"/>
              <a:buChar char="•"/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Determine team members and responsibilities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7C6531-90B7-44AC-B6CB-A42C0A56D164}" type="slidenum">
              <a:rPr lang="en-US" altLang="en-US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6972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829857"/>
            <a:ext cx="3632200" cy="1371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br>
              <a:rPr lang="en-US" altLang="en-US" sz="2800" dirty="0">
                <a:ln>
                  <a:noFill/>
                </a:ln>
              </a:rPr>
            </a:br>
            <a:br>
              <a:rPr lang="en-US" altLang="en-US" sz="2800" dirty="0">
                <a:ln>
                  <a:noFill/>
                </a:ln>
              </a:rPr>
            </a:br>
            <a:br>
              <a:rPr lang="en-US" altLang="en-US" sz="2800" dirty="0">
                <a:ln>
                  <a:noFill/>
                </a:ln>
              </a:rPr>
            </a:br>
            <a:br>
              <a:rPr lang="en-US" altLang="en-US" sz="2800" dirty="0">
                <a:ln>
                  <a:noFill/>
                </a:ln>
              </a:rPr>
            </a:br>
            <a:br>
              <a:rPr lang="en-US" altLang="en-US" sz="2800" dirty="0">
                <a:ln>
                  <a:noFill/>
                </a:ln>
              </a:rPr>
            </a:br>
            <a:br>
              <a:rPr lang="en-US" altLang="en-US" sz="2800" dirty="0">
                <a:ln>
                  <a:noFill/>
                </a:ln>
              </a:rPr>
            </a:br>
            <a:br>
              <a:rPr lang="en-US" altLang="en-US" sz="2800" dirty="0">
                <a:ln>
                  <a:noFill/>
                </a:ln>
              </a:rPr>
            </a:br>
            <a:r>
              <a:rPr lang="en-US" altLang="en-US" sz="2800" dirty="0">
                <a:ln>
                  <a:noFill/>
                </a:ln>
              </a:rPr>
              <a:t>Work Breakdown Structure for Iteration</a:t>
            </a:r>
            <a:br>
              <a:rPr lang="en-US" altLang="en-US" sz="2800" dirty="0">
                <a:ln>
                  <a:noFill/>
                </a:ln>
              </a:rPr>
            </a:br>
            <a:endParaRPr lang="en-US" altLang="en-US" sz="2000" dirty="0">
              <a:ln>
                <a:noFill/>
              </a:ln>
            </a:endParaRPr>
          </a:p>
        </p:txBody>
      </p:sp>
      <p:sp>
        <p:nvSpPr>
          <p:cNvPr id="46084" name="Text Placeholder 1"/>
          <p:cNvSpPr>
            <a:spLocks noGrp="1"/>
          </p:cNvSpPr>
          <p:nvPr>
            <p:ph type="body" sz="half" idx="2"/>
          </p:nvPr>
        </p:nvSpPr>
        <p:spPr>
          <a:xfrm>
            <a:off x="692727" y="3366065"/>
            <a:ext cx="3632200" cy="1828800"/>
          </a:xfrm>
        </p:spPr>
        <p:txBody>
          <a:bodyPr/>
          <a:lstStyle/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Describes the work and covers Core Processes 3, 4, 5, and 6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132FE-965A-47D6-A0C7-6DE2BD892455}" type="slidenum">
              <a:rPr lang="en-US" altLang="en-US"/>
              <a:pPr>
                <a:defRPr/>
              </a:pPr>
              <a:t>14</a:t>
            </a:fld>
            <a:endParaRPr lang="en-US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393" y="1293318"/>
            <a:ext cx="3943607" cy="414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614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778716" y="1884363"/>
            <a:ext cx="3632200" cy="1371600"/>
          </a:xfrm>
        </p:spPr>
        <p:txBody>
          <a:bodyPr/>
          <a:lstStyle/>
          <a:p>
            <a:pPr eaLnBrk="1" hangingPunct="1"/>
            <a:r>
              <a:rPr lang="en-US" altLang="en-US" sz="2800" dirty="0">
                <a:ln>
                  <a:noFill/>
                </a:ln>
              </a:rPr>
              <a:t>Work Sequence Draft for Iteration</a:t>
            </a:r>
            <a:br>
              <a:rPr lang="en-US" altLang="en-US" sz="2800" dirty="0">
                <a:ln>
                  <a:noFill/>
                </a:ln>
              </a:rPr>
            </a:br>
            <a:endParaRPr lang="en-US" altLang="en-US" sz="2000" dirty="0">
              <a:ln>
                <a:noFill/>
              </a:ln>
            </a:endParaRPr>
          </a:p>
        </p:txBody>
      </p:sp>
      <p:sp>
        <p:nvSpPr>
          <p:cNvPr id="47108" name="Text Placeholder 1"/>
          <p:cNvSpPr>
            <a:spLocks noGrp="1"/>
          </p:cNvSpPr>
          <p:nvPr>
            <p:ph type="body" sz="half" idx="2"/>
          </p:nvPr>
        </p:nvSpPr>
        <p:spPr>
          <a:xfrm>
            <a:off x="838200" y="3269962"/>
            <a:ext cx="3632200" cy="18288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Elaborates the Work Breakdown Structure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DC76C6-A198-40F4-8335-524637B10883}" type="slidenum">
              <a:rPr lang="en-US" altLang="en-US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10" name="Picture Placeholder 9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342" b="2342"/>
          <a:stretch>
            <a:fillRect/>
          </a:stretch>
        </p:blipFill>
        <p:spPr>
          <a:xfrm>
            <a:off x="4470400" y="838200"/>
            <a:ext cx="39116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755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n>
                  <a:noFill/>
                </a:ln>
              </a:rPr>
              <a:t>Day 2 Activities 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Core Process 3: Discover and Understand Details</a:t>
            </a:r>
          </a:p>
          <a:p>
            <a:pPr lvl="1" eaLnBrk="1" hangingPunct="1"/>
            <a:r>
              <a:rPr lang="en-US" altLang="en-US"/>
              <a:t>Do preliminary fact-finding to understand requirements</a:t>
            </a:r>
          </a:p>
          <a:p>
            <a:pPr lvl="1" eaLnBrk="1" hangingPunct="1"/>
            <a:r>
              <a:rPr lang="en-US" altLang="en-US"/>
              <a:t>Develop a preliminary list of use cases and a use case diagram</a:t>
            </a:r>
          </a:p>
          <a:p>
            <a:pPr lvl="1" eaLnBrk="1" hangingPunct="1"/>
            <a:r>
              <a:rPr lang="en-US" altLang="en-US"/>
              <a:t>Develop a preliminary list of classes and a class diagram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FE58FB-61FF-4226-A52D-7A38DC98E60B}" type="slidenum">
              <a:rPr lang="en-US" altLang="en-US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165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Identify Use Cases</a:t>
            </a:r>
            <a:br>
              <a:rPr lang="en-US" altLang="en-US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altLang="en-US" sz="2800">
                <a:solidFill>
                  <a:schemeClr val="tx1">
                    <a:lumMod val="85000"/>
                    <a:lumOff val="15000"/>
                  </a:schemeClr>
                </a:solidFill>
              </a:rPr>
              <a:t>Both subsystems</a:t>
            </a:r>
            <a:r>
              <a:rPr lang="en-US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D0139-9E0E-42F6-BF0C-A0F61512D4EE}" type="slidenum">
              <a:rPr lang="en-US" altLang="en-US"/>
              <a:pPr>
                <a:defRPr/>
              </a:pPr>
              <a:t>17</a:t>
            </a:fld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514600"/>
            <a:ext cx="5555461" cy="333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955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Identify Object Classes</a:t>
            </a:r>
            <a:br>
              <a:rPr lang="en-US" altLang="en-US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altLang="en-US" sz="2800">
                <a:solidFill>
                  <a:schemeClr val="tx1">
                    <a:lumMod val="85000"/>
                    <a:lumOff val="15000"/>
                  </a:schemeClr>
                </a:solidFill>
              </a:rPr>
              <a:t>Both subsystems</a:t>
            </a:r>
            <a:r>
              <a:rPr lang="en-US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A09200-D2DB-4A66-9460-7E784418D4BC}" type="slidenum">
              <a:rPr lang="en-US" altLang="en-US"/>
              <a:pPr>
                <a:defRPr/>
              </a:pPr>
              <a:t>18</a:t>
            </a:fld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146" y="2956486"/>
            <a:ext cx="5998454" cy="199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776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Preliminary Class Diagram</a:t>
            </a:r>
            <a:br>
              <a:rPr lang="en-US" altLang="en-US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altLang="en-US" sz="2800">
                <a:solidFill>
                  <a:schemeClr val="tx1">
                    <a:lumMod val="85000"/>
                    <a:lumOff val="15000"/>
                  </a:schemeClr>
                </a:solidFill>
              </a:rPr>
              <a:t>Both subsystems</a:t>
            </a:r>
            <a:r>
              <a:rPr lang="en-US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11F464-6478-4DF7-9082-E8008CB15547}" type="slidenum">
              <a:rPr lang="en-US" altLang="en-US"/>
              <a:pPr>
                <a:defRPr/>
              </a:pPr>
              <a:t>19</a:t>
            </a:fld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932" y="2544209"/>
            <a:ext cx="5532599" cy="353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537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n>
                  <a:noFill/>
                </a:ln>
              </a:rPr>
              <a:t>Day 3 Activities 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2490788"/>
            <a:ext cx="6908800" cy="3444875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/>
              <a:t>Core Process 3: Discover and Understand Details</a:t>
            </a:r>
          </a:p>
          <a:p>
            <a:pPr lvl="1" eaLnBrk="1" hangingPunct="1"/>
            <a:r>
              <a:rPr lang="en-US" altLang="en-US"/>
              <a:t>Do in-depth fact-finding to understand requirements</a:t>
            </a:r>
          </a:p>
          <a:p>
            <a:pPr lvl="1" eaLnBrk="1" hangingPunct="1"/>
            <a:r>
              <a:rPr lang="en-US" altLang="en-US"/>
              <a:t>Understand and document the detailed workflow of each use case</a:t>
            </a:r>
          </a:p>
          <a:p>
            <a:pPr eaLnBrk="1" hangingPunct="1"/>
            <a:r>
              <a:rPr lang="en-US" altLang="en-US"/>
              <a:t>Core Process 4: Design System Components</a:t>
            </a:r>
          </a:p>
          <a:p>
            <a:pPr lvl="1" eaLnBrk="1" hangingPunct="1"/>
            <a:r>
              <a:rPr lang="en-US" altLang="en-US"/>
              <a:t>Define the user experience with screens and report sketches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0A4BDC-8257-4D29-9CE7-52DFB71169DC}" type="slidenum">
              <a:rPr lang="en-US" altLang="en-US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95330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Supplier Information Subsystem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Use cases:</a:t>
            </a:r>
          </a:p>
          <a:p>
            <a:pPr lvl="1" eaLnBrk="1" hangingPunct="1"/>
            <a:r>
              <a:rPr lang="en-US" altLang="en-US" sz="3200"/>
              <a:t>Look up supplier</a:t>
            </a:r>
          </a:p>
          <a:p>
            <a:pPr lvl="1" eaLnBrk="1" hangingPunct="1"/>
            <a:r>
              <a:rPr lang="en-US" altLang="en-US" sz="3200"/>
              <a:t>Enter/update supplier information</a:t>
            </a:r>
          </a:p>
          <a:p>
            <a:pPr lvl="1" eaLnBrk="1" hangingPunct="1"/>
            <a:r>
              <a:rPr lang="en-US" altLang="en-US" sz="3200"/>
              <a:t>Lookup contact information</a:t>
            </a:r>
          </a:p>
          <a:p>
            <a:pPr lvl="1" eaLnBrk="1" hangingPunct="1"/>
            <a:r>
              <a:rPr lang="en-US" altLang="en-US" sz="3200"/>
              <a:t>Enter/update contract information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5D4137-2C96-4A82-8E39-57AA25E2D024}" type="slidenum">
              <a:rPr lang="en-US" altLang="en-US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8752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n>
                  <a:noFill/>
                </a:ln>
              </a:rPr>
              <a:t>Use Case Diagram</a:t>
            </a:r>
            <a:br>
              <a:rPr lang="en-US" altLang="en-US">
                <a:ln>
                  <a:noFill/>
                </a:ln>
              </a:rPr>
            </a:br>
            <a:r>
              <a:rPr lang="en-US" altLang="en-US" sz="2800">
                <a:ln>
                  <a:noFill/>
                </a:ln>
              </a:rPr>
              <a:t>Supplier information subsystem</a:t>
            </a:r>
            <a:endParaRPr lang="en-US" altLang="en-US">
              <a:ln>
                <a:noFill/>
              </a:ln>
            </a:endParaRPr>
          </a:p>
        </p:txBody>
      </p:sp>
      <p:pic>
        <p:nvPicPr>
          <p:cNvPr id="54275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49475" y="2490788"/>
            <a:ext cx="4852988" cy="3444875"/>
          </a:xfrm>
          <a:noFill/>
        </p:spPr>
      </p:pic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00FC2F-02F9-447C-8FCC-CE6B02CABA85}" type="slidenum">
              <a:rPr lang="en-US" altLang="en-US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1858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801807" y="1828800"/>
            <a:ext cx="3632200" cy="1371600"/>
          </a:xfrm>
        </p:spPr>
        <p:txBody>
          <a:bodyPr/>
          <a:lstStyle/>
          <a:p>
            <a:pPr eaLnBrk="1" hangingPunct="1"/>
            <a:r>
              <a:rPr lang="en-US" altLang="en-US" sz="2800" dirty="0">
                <a:ln>
                  <a:noFill/>
                </a:ln>
              </a:rPr>
              <a:t>Activity Diagram (Workflow)</a:t>
            </a:r>
            <a:br>
              <a:rPr lang="en-US" altLang="en-US" sz="2800" dirty="0">
                <a:ln>
                  <a:noFill/>
                </a:ln>
              </a:rPr>
            </a:br>
            <a:endParaRPr lang="en-US" altLang="en-US" dirty="0">
              <a:ln>
                <a:noFill/>
              </a:ln>
            </a:endParaRPr>
          </a:p>
        </p:txBody>
      </p:sp>
      <p:sp>
        <p:nvSpPr>
          <p:cNvPr id="55300" name="Text Placeholder 1"/>
          <p:cNvSpPr>
            <a:spLocks noGrp="1"/>
          </p:cNvSpPr>
          <p:nvPr>
            <p:ph type="body" sz="half" idx="2"/>
          </p:nvPr>
        </p:nvSpPr>
        <p:spPr>
          <a:xfrm>
            <a:off x="829516" y="3276600"/>
            <a:ext cx="3632200" cy="1828800"/>
          </a:xfrm>
        </p:spPr>
        <p:txBody>
          <a:bodyPr/>
          <a:lstStyle/>
          <a:p>
            <a:pPr eaLnBrk="1" hangingPunct="1"/>
            <a:r>
              <a:rPr lang="en-US" altLang="en-US" sz="2400" b="1" i="1" dirty="0"/>
              <a:t>Look up supplier </a:t>
            </a:r>
            <a:r>
              <a:rPr lang="en-US" altLang="en-US" sz="2400" dirty="0"/>
              <a:t>use case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E12943-B480-4EDC-AFC1-60FC8A3A5499}" type="slidenum">
              <a:rPr lang="en-US" altLang="en-US"/>
              <a:pPr>
                <a:defRPr/>
              </a:pPr>
              <a:t>23</a:t>
            </a:fld>
            <a:endParaRPr lang="en-US" altLang="en-US"/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944" r="2944"/>
          <a:stretch>
            <a:fillRect/>
          </a:stretch>
        </p:blipFill>
        <p:spPr>
          <a:xfrm>
            <a:off x="4343400" y="1033463"/>
            <a:ext cx="3962400" cy="498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477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n>
                  <a:noFill/>
                </a:ln>
              </a:rPr>
              <a:t>Draft Screen Layout</a:t>
            </a:r>
            <a:br>
              <a:rPr lang="en-US" altLang="en-US">
                <a:ln>
                  <a:noFill/>
                </a:ln>
              </a:rPr>
            </a:br>
            <a:r>
              <a:rPr lang="en-US" altLang="en-US" sz="2400" b="1" i="1">
                <a:ln>
                  <a:noFill/>
                </a:ln>
              </a:rPr>
              <a:t>Look up supplier </a:t>
            </a:r>
            <a:r>
              <a:rPr lang="en-US" altLang="en-US" sz="2400">
                <a:ln>
                  <a:noFill/>
                </a:ln>
              </a:rPr>
              <a:t>use case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74E7B2-E000-4689-933D-767BCA82C518}" type="slidenum">
              <a:rPr lang="en-US" altLang="en-US"/>
              <a:pPr>
                <a:defRPr/>
              </a:pPr>
              <a:t>24</a:t>
            </a:fld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880" y="2438400"/>
            <a:ext cx="5570703" cy="3749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2803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n>
                  <a:noFill/>
                </a:ln>
              </a:rPr>
              <a:t>Day 4 Activities 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Core Process 4: Design System Components</a:t>
            </a:r>
          </a:p>
          <a:p>
            <a:pPr lvl="1" eaLnBrk="1" hangingPunct="1"/>
            <a:r>
              <a:rPr lang="en-US" altLang="en-US"/>
              <a:t>Design the database (schema)</a:t>
            </a:r>
          </a:p>
          <a:p>
            <a:pPr lvl="1" eaLnBrk="1" hangingPunct="1"/>
            <a:r>
              <a:rPr lang="en-US" altLang="en-US"/>
              <a:t>Design the system’s high level structure</a:t>
            </a:r>
          </a:p>
          <a:p>
            <a:pPr lvl="2" eaLnBrk="1" hangingPunct="1"/>
            <a:r>
              <a:rPr lang="en-US" altLang="en-US"/>
              <a:t>Browser, Windows, or Smart phone</a:t>
            </a:r>
          </a:p>
          <a:p>
            <a:pPr lvl="2" eaLnBrk="1" hangingPunct="1"/>
            <a:r>
              <a:rPr lang="en-US" altLang="en-US"/>
              <a:t>Architectural configuration (components)</a:t>
            </a:r>
          </a:p>
          <a:p>
            <a:pPr lvl="2" eaLnBrk="1" hangingPunct="1"/>
            <a:r>
              <a:rPr lang="en-US" altLang="en-US"/>
              <a:t>Design class diagram </a:t>
            </a:r>
          </a:p>
          <a:p>
            <a:pPr lvl="2" eaLnBrk="1" hangingPunct="1"/>
            <a:r>
              <a:rPr lang="en-US" altLang="en-US"/>
              <a:t>Subsystem architectural design</a:t>
            </a:r>
          </a:p>
          <a:p>
            <a:pPr lvl="2" eaLnBrk="1" hangingPunct="1"/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C6CE-7F97-483A-A12C-AFC03A7779EC}" type="slidenum">
              <a:rPr lang="en-US" altLang="en-US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56380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n>
                  <a:noFill/>
                </a:ln>
              </a:rPr>
              <a:t>Database Schema</a:t>
            </a:r>
            <a:endParaRPr lang="en-US" altLang="en-US" sz="2400">
              <a:ln>
                <a:noFill/>
              </a:ln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961D67-D4B7-4652-BF16-07FA7CDA2A26}" type="slidenum">
              <a:rPr lang="en-US" altLang="en-US"/>
              <a:pPr>
                <a:defRPr/>
              </a:pPr>
              <a:t>26</a:t>
            </a:fld>
            <a:endParaRPr lang="en-US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680" y="2453236"/>
            <a:ext cx="5143320" cy="382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7444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>
                <a:ln>
                  <a:noFill/>
                </a:ln>
              </a:rPr>
              <a:t>Architectural Configuration Diagram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862EEE-211D-42B5-90B4-01D1983DD75D}" type="slidenum">
              <a:rPr lang="en-US" altLang="en-US"/>
              <a:pPr>
                <a:defRPr/>
              </a:pPr>
              <a:t>27</a:t>
            </a:fld>
            <a:endParaRPr lang="en-US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99" y="2438400"/>
            <a:ext cx="515654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0273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801807" y="1884363"/>
            <a:ext cx="3632200" cy="1371600"/>
          </a:xfrm>
        </p:spPr>
        <p:txBody>
          <a:bodyPr/>
          <a:lstStyle/>
          <a:p>
            <a:pPr eaLnBrk="1" hangingPunct="1"/>
            <a:r>
              <a:rPr lang="en-US" altLang="en-US" sz="2800" dirty="0">
                <a:ln>
                  <a:noFill/>
                </a:ln>
              </a:rPr>
              <a:t>Preliminary Design Class Diagram</a:t>
            </a:r>
            <a:br>
              <a:rPr lang="en-US" altLang="en-US" sz="2800" dirty="0">
                <a:ln>
                  <a:noFill/>
                </a:ln>
              </a:rPr>
            </a:br>
            <a:endParaRPr lang="en-US" altLang="en-US" sz="2000" dirty="0">
              <a:ln>
                <a:noFill/>
              </a:ln>
            </a:endParaRPr>
          </a:p>
        </p:txBody>
      </p:sp>
      <p:sp>
        <p:nvSpPr>
          <p:cNvPr id="60420" name="Text Placeholder 1"/>
          <p:cNvSpPr>
            <a:spLocks noGrp="1"/>
          </p:cNvSpPr>
          <p:nvPr>
            <p:ph type="body" sz="half" idx="2"/>
          </p:nvPr>
        </p:nvSpPr>
        <p:spPr>
          <a:xfrm>
            <a:off x="838200" y="3260726"/>
            <a:ext cx="3632200" cy="18288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Includes View Layer Classes and Domain Layer Classes</a:t>
            </a:r>
            <a:br>
              <a:rPr lang="en-US" altLang="en-US" sz="2400" dirty="0"/>
            </a:br>
            <a:br>
              <a:rPr lang="en-US" altLang="en-US" sz="2400" dirty="0"/>
            </a:br>
            <a:endParaRPr lang="en-US" altLang="en-US" sz="24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E8F42B-8E36-4093-BD62-238CA372CF7E}" type="slidenum">
              <a:rPr lang="en-US" altLang="en-US"/>
              <a:pPr>
                <a:defRPr/>
              </a:pPr>
              <a:t>28</a:t>
            </a:fld>
            <a:endParaRPr lang="en-US" alt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400" y="1137479"/>
            <a:ext cx="3800443" cy="423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1864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884726"/>
            <a:ext cx="3632200" cy="1697037"/>
          </a:xfrm>
        </p:spPr>
        <p:txBody>
          <a:bodyPr/>
          <a:lstStyle/>
          <a:p>
            <a:pPr eaLnBrk="1" hangingPunct="1"/>
            <a:r>
              <a:rPr lang="en-US" altLang="en-US" sz="3200" dirty="0">
                <a:ln>
                  <a:noFill/>
                </a:ln>
              </a:rPr>
              <a:t>Subsystem Architectural Design Diagram</a:t>
            </a:r>
          </a:p>
        </p:txBody>
      </p:sp>
      <p:sp>
        <p:nvSpPr>
          <p:cNvPr id="61444" name="Text Placeholder 1"/>
          <p:cNvSpPr>
            <a:spLocks noGrp="1"/>
          </p:cNvSpPr>
          <p:nvPr>
            <p:ph type="body" sz="half" idx="2"/>
          </p:nvPr>
        </p:nvSpPr>
        <p:spPr>
          <a:xfrm>
            <a:off x="1176338" y="3255963"/>
            <a:ext cx="3632200" cy="1828800"/>
          </a:xfrm>
        </p:spPr>
        <p:txBody>
          <a:bodyPr/>
          <a:lstStyle/>
          <a:p>
            <a:pPr eaLnBrk="1" hangingPunct="1"/>
            <a:r>
              <a:rPr lang="en-US" altLang="en-US"/>
              <a:t>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074296-5830-4AE4-9126-1DED05108788}" type="slidenum">
              <a:rPr lang="en-US" altLang="en-US"/>
              <a:pPr>
                <a:defRPr/>
              </a:pPr>
              <a:t>29</a:t>
            </a:fld>
            <a:endParaRPr lang="en-US" altLang="en-US"/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416" r="1416"/>
          <a:stretch>
            <a:fillRect/>
          </a:stretch>
        </p:blipFill>
        <p:spPr>
          <a:xfrm>
            <a:off x="4241800" y="1447800"/>
            <a:ext cx="4027488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7738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n>
                  <a:noFill/>
                </a:ln>
              </a:rPr>
              <a:t>Notes on Managing the Project 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Lots of design diagrams shown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Design in a complex activity with multiple levels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One diagram builds on/complements another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Not everything is diagrammed, especially for a small project. Pick and choose.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Programming is also done concurrently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You don’t design everything then code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You do some design, some coding, some design, some coding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B1EBBC-0735-4BE7-B716-AF917E853B97}" type="slidenum">
              <a:rPr lang="en-US" altLang="en-US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07141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n>
                  <a:noFill/>
                </a:ln>
              </a:rPr>
              <a:t>Day 5 Activities 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1176338" y="2366963"/>
            <a:ext cx="6799262" cy="3444875"/>
          </a:xfrm>
        </p:spPr>
        <p:txBody>
          <a:bodyPr/>
          <a:lstStyle/>
          <a:p>
            <a:pPr eaLnBrk="1" hangingPunct="1"/>
            <a:r>
              <a:rPr lang="en-US" altLang="en-US"/>
              <a:t>Core Process 4: Design System Components</a:t>
            </a:r>
          </a:p>
          <a:p>
            <a:pPr lvl="1" eaLnBrk="1" hangingPunct="1"/>
            <a:r>
              <a:rPr lang="en-US" altLang="en-US"/>
              <a:t>Continue with design details</a:t>
            </a:r>
          </a:p>
          <a:p>
            <a:pPr lvl="1" eaLnBrk="1" hangingPunct="1"/>
            <a:r>
              <a:rPr lang="en-US" altLang="en-US"/>
              <a:t>Proceed use case by use case</a:t>
            </a:r>
          </a:p>
          <a:p>
            <a:pPr eaLnBrk="1" hangingPunct="1"/>
            <a:r>
              <a:rPr lang="en-US" altLang="en-US"/>
              <a:t>Core Process 5: Build, Test, and Integrate System Components</a:t>
            </a:r>
          </a:p>
          <a:p>
            <a:pPr lvl="1" eaLnBrk="1" hangingPunct="1"/>
            <a:r>
              <a:rPr lang="en-US" altLang="en-US"/>
              <a:t>Continue programming (build)</a:t>
            </a:r>
          </a:p>
          <a:p>
            <a:pPr lvl="1" eaLnBrk="1" hangingPunct="1"/>
            <a:r>
              <a:rPr lang="en-US" altLang="en-US"/>
              <a:t>Build use case by use case</a:t>
            </a:r>
          </a:p>
          <a:p>
            <a:pPr lvl="1" eaLnBrk="1" hangingPunct="1"/>
            <a:r>
              <a:rPr lang="en-US" altLang="en-US"/>
              <a:t>Perform unit and integration tests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35B5E7-9B16-4200-95EE-58D6A8A9B24F}" type="slidenum">
              <a:rPr lang="en-US" altLang="en-US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31538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801807" y="1884363"/>
            <a:ext cx="3632200" cy="1371600"/>
          </a:xfrm>
        </p:spPr>
        <p:txBody>
          <a:bodyPr/>
          <a:lstStyle/>
          <a:p>
            <a:pPr eaLnBrk="1" hangingPunct="1"/>
            <a:r>
              <a:rPr lang="en-US" altLang="en-US" sz="3200" dirty="0">
                <a:ln>
                  <a:noFill/>
                </a:ln>
              </a:rPr>
              <a:t>Code Example for One Class</a:t>
            </a:r>
          </a:p>
        </p:txBody>
      </p:sp>
      <p:sp>
        <p:nvSpPr>
          <p:cNvPr id="64516" name="Text Placeholder 1"/>
          <p:cNvSpPr>
            <a:spLocks noGrp="1"/>
          </p:cNvSpPr>
          <p:nvPr>
            <p:ph type="body" sz="half" idx="2"/>
          </p:nvPr>
        </p:nvSpPr>
        <p:spPr>
          <a:xfrm>
            <a:off x="1176338" y="3255963"/>
            <a:ext cx="3632200" cy="1828800"/>
          </a:xfrm>
        </p:spPr>
        <p:txBody>
          <a:bodyPr/>
          <a:lstStyle/>
          <a:p>
            <a:pPr eaLnBrk="1" hangingPunct="1"/>
            <a:r>
              <a:rPr lang="en-US" altLang="en-US"/>
              <a:t>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BA981-676D-46CD-92DF-F6DD056F45E0}" type="slidenum">
              <a:rPr lang="en-US" altLang="en-US"/>
              <a:pPr>
                <a:defRPr/>
              </a:pPr>
              <a:t>32</a:t>
            </a:fld>
            <a:endParaRPr lang="en-US" altLang="en-US"/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49" b="149"/>
          <a:stretch>
            <a:fillRect/>
          </a:stretch>
        </p:blipFill>
        <p:spPr>
          <a:xfrm>
            <a:off x="3822156" y="721966"/>
            <a:ext cx="4724400" cy="50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019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n>
                  <a:noFill/>
                </a:ln>
              </a:rPr>
              <a:t>Day 6 Activities 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Core Process 6: Complete System Testing and Deploy the System </a:t>
            </a:r>
          </a:p>
          <a:p>
            <a:pPr lvl="1" eaLnBrk="1" hangingPunct="1"/>
            <a:r>
              <a:rPr lang="en-US" altLang="en-US"/>
              <a:t>Perform system functional testing</a:t>
            </a:r>
          </a:p>
          <a:p>
            <a:pPr lvl="1" eaLnBrk="1" hangingPunct="1"/>
            <a:r>
              <a:rPr lang="en-US" altLang="en-US"/>
              <a:t>Perform user acceptance testing</a:t>
            </a:r>
          </a:p>
          <a:p>
            <a:pPr lvl="1" eaLnBrk="1" hangingPunct="1"/>
            <a:r>
              <a:rPr lang="en-US" altLang="en-US"/>
              <a:t>Possibly deploy part of system</a:t>
            </a:r>
          </a:p>
          <a:p>
            <a:pPr lvl="1" eaLnBrk="1" hangingPunct="1"/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D49B9B-04BC-4F12-8755-0C9AA3694FEB}" type="slidenum">
              <a:rPr lang="en-US" altLang="en-US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6973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n>
                  <a:noFill/>
                </a:ln>
              </a:rPr>
              <a:t>Workflow of Testing Tasks</a:t>
            </a:r>
            <a:endParaRPr lang="en-US" altLang="en-US" sz="2400">
              <a:ln>
                <a:noFill/>
              </a:ln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82DD59-4FAE-4ACC-9BDB-FD2E36FC9747}" type="slidenum">
              <a:rPr lang="en-US" altLang="en-US"/>
              <a:pPr>
                <a:defRPr/>
              </a:pPr>
              <a:t>34</a:t>
            </a:fld>
            <a:endParaRPr lang="en-US" altLang="en-US"/>
          </a:p>
        </p:txBody>
      </p:sp>
      <p:pic>
        <p:nvPicPr>
          <p:cNvPr id="66563" name="Picture 7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76865" y="2895600"/>
            <a:ext cx="6799262" cy="2028825"/>
          </a:xfrm>
          <a:noFill/>
        </p:spPr>
      </p:pic>
    </p:spTree>
    <p:extLst>
      <p:ext uri="{BB962C8B-B14F-4D97-AF65-F5344CB8AC3E}">
        <p14:creationId xmlns:p14="http://schemas.microsoft.com/office/powerpoint/2010/main" val="32564142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n>
                  <a:noFill/>
                </a:ln>
              </a:rPr>
              <a:t>First Iteration Recap 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This was a 6 day iteration of small project</a:t>
            </a:r>
          </a:p>
          <a:p>
            <a:pPr lvl="1" eaLnBrk="1" hangingPunct="1"/>
            <a:r>
              <a:rPr lang="en-US" altLang="en-US"/>
              <a:t>Most iterations are longer (2 to 4 weeks)</a:t>
            </a:r>
          </a:p>
          <a:p>
            <a:pPr lvl="1" eaLnBrk="1" hangingPunct="1"/>
            <a:r>
              <a:rPr lang="en-US" altLang="en-US"/>
              <a:t>This project might be 2 iterations</a:t>
            </a:r>
          </a:p>
          <a:p>
            <a:pPr lvl="1" eaLnBrk="1" hangingPunct="1"/>
            <a:r>
              <a:rPr lang="en-US" altLang="en-US"/>
              <a:t>Most projects have many more iterations </a:t>
            </a:r>
          </a:p>
          <a:p>
            <a:pPr eaLnBrk="1" hangingPunct="1"/>
            <a:r>
              <a:rPr lang="en-US" altLang="en-US"/>
              <a:t>End users need to be involved, particularly in day 1, 2, 3 and 6. </a:t>
            </a:r>
          </a:p>
          <a:p>
            <a:pPr eaLnBrk="1" hangingPunct="1"/>
            <a:r>
              <a:rPr lang="en-US" altLang="en-US"/>
              <a:t>Days 4 and 5 involved design and programming concurrently.</a:t>
            </a:r>
          </a:p>
          <a:p>
            <a:pPr lvl="1" eaLnBrk="1" hangingPunct="1"/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D7336D-2083-401A-AAB0-7E327D396D0A}" type="slidenum">
              <a:rPr lang="en-US" altLang="en-US"/>
              <a:pPr>
                <a:defRPr/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61823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This Book is about Activities and Tasks in the SDLC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62A1D7-4429-4119-B9A8-1DA938E66864}" type="slidenum">
              <a:rPr lang="en-US" altLang="en-US"/>
              <a:pPr>
                <a:defRPr/>
              </a:pPr>
              <a:t>36</a:t>
            </a:fld>
            <a:endParaRPr lang="en-US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514600"/>
            <a:ext cx="6168271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320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763</Words>
  <Application>Microsoft Macintosh PowerPoint</Application>
  <PresentationFormat>On-screen Show (4:3)</PresentationFormat>
  <Paragraphs>156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等线 Light</vt:lpstr>
      <vt:lpstr>Arial</vt:lpstr>
      <vt:lpstr>Calibri</vt:lpstr>
      <vt:lpstr>Calibri Light</vt:lpstr>
      <vt:lpstr>Office Theme</vt:lpstr>
      <vt:lpstr>RMO Case Study</vt:lpstr>
      <vt:lpstr>Iterative and Agile Systems Development Lifecycle (SDLC)</vt:lpstr>
      <vt:lpstr>Ridgeline Mountain Outfitters (RMO) </vt:lpstr>
      <vt:lpstr>PowerPoint Presentation</vt:lpstr>
      <vt:lpstr>Ridgeline Mountain Outfitters (RMO) </vt:lpstr>
      <vt:lpstr>RMO Tradeshow System </vt:lpstr>
      <vt:lpstr>RMO Tradeshow System </vt:lpstr>
      <vt:lpstr>Initial Activities – pre-project</vt:lpstr>
      <vt:lpstr>System Vision Document </vt:lpstr>
      <vt:lpstr>Problem Description </vt:lpstr>
      <vt:lpstr>System Capabilities</vt:lpstr>
      <vt:lpstr>Business Benefits</vt:lpstr>
      <vt:lpstr>Day 1 Activities </vt:lpstr>
      <vt:lpstr>       Work Breakdown Structure for Iteration </vt:lpstr>
      <vt:lpstr>Work Sequence Draft for Iteration </vt:lpstr>
      <vt:lpstr>Day 2 Activities </vt:lpstr>
      <vt:lpstr>Identify Use Cases Both subsystems </vt:lpstr>
      <vt:lpstr>Identify Object Classes Both subsystems </vt:lpstr>
      <vt:lpstr>Preliminary Class Diagram Both subsystems </vt:lpstr>
      <vt:lpstr>Day 3 Activities </vt:lpstr>
      <vt:lpstr>Supplier Information Subsystem</vt:lpstr>
      <vt:lpstr>Use Case Diagram Supplier information subsystem</vt:lpstr>
      <vt:lpstr>Activity Diagram (Workflow) </vt:lpstr>
      <vt:lpstr>Draft Screen Layout Look up supplier use case</vt:lpstr>
      <vt:lpstr>Day 4 Activities </vt:lpstr>
      <vt:lpstr>Database Schema</vt:lpstr>
      <vt:lpstr>Architectural Configuration Diagram</vt:lpstr>
      <vt:lpstr>Preliminary Design Class Diagram </vt:lpstr>
      <vt:lpstr>Subsystem Architectural Design Diagram</vt:lpstr>
      <vt:lpstr>Notes on Managing the Project </vt:lpstr>
      <vt:lpstr>Day 5 Activities </vt:lpstr>
      <vt:lpstr>Code Example for One Class</vt:lpstr>
      <vt:lpstr>Day 6 Activities </vt:lpstr>
      <vt:lpstr>Workflow of Testing Tasks</vt:lpstr>
      <vt:lpstr>First Iteration Recap </vt:lpstr>
      <vt:lpstr>This Book is about Activities and Tasks in the SDLC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ROM Case Study</dc:title>
  <dc:creator>Microsoft Office User</dc:creator>
  <cp:lastModifiedBy>Microsoft Office User</cp:lastModifiedBy>
  <cp:revision>2</cp:revision>
  <dcterms:created xsi:type="dcterms:W3CDTF">2019-03-07T04:18:25Z</dcterms:created>
  <dcterms:modified xsi:type="dcterms:W3CDTF">2019-03-07T04:25:58Z</dcterms:modified>
</cp:coreProperties>
</file>